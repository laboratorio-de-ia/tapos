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E8ED8"/>
                </a:solidFill>
                <a:latin typeface="Lato"/>
              </a:rPr>
              <a:t>TECLE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FFFFF"/>
                </a:solidFill>
                <a:latin typeface="Lato"/>
              </a:rPr>
              <a:t>TAPOS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EAF3FC"/>
                </a:solidFill>
                <a:latin typeface="Lato"/>
              </a:rPr>
              <a:t>Tecle AI Platform Operating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1463040" cy="381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Lato"/>
              </a:rPr>
              <a:t>Apresentação para Investidores-Anjo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AF3FC"/>
                </a:solidFill>
                <a:latin typeface="Lato"/>
              </a:rPr>
              <a:t>Uma plataforma, três negócios de IA em operação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80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AF3FC"/>
                </a:solidFill>
                <a:latin typeface="Lato"/>
              </a:rPr>
              <a:t>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RESUMO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Uma Plataforma, Três Negócios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O que a Tecle construiu, em uma frase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956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72A44"/>
                </a:solidFill>
                <a:latin typeface="Lato"/>
              </a:rPr>
              <a:t>A Tecle está construindo a TAPOS: uma plataforma SaaS multi-produto que já opera três verticais de inteligência artificial aplicada. O que diferencia a Tecle não é ter construído três produtos de IA — é ter construído, junto com eles, a infraestrutura comum que transforma cada novo produto em receita adicional sobre uma base já paga, não em um projeto do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94000"/>
            <a:ext cx="2537460" cy="160020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3050" y="299516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59760"/>
            <a:ext cx="23545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5560"/>
            <a:ext cx="22631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produtos de IA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em operação real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6140" y="2794000"/>
            <a:ext cx="2537460" cy="160020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4830" y="299516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7580" y="3159760"/>
            <a:ext cx="23545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R$ 1 tri+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300" y="3845560"/>
            <a:ext cx="22631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mercado endereçável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só pelo Edital-AI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94000"/>
            <a:ext cx="2537460" cy="160020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66610" y="299516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159760"/>
            <a:ext cx="23545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ato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845560"/>
            <a:ext cx="22631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editais públicos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reais processados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700" y="2794000"/>
            <a:ext cx="2537460" cy="160020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78390" y="299516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1140" y="3159760"/>
            <a:ext cx="23545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ato"/>
              </a:rPr>
              <a:t>v1.0.0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6860" y="3845560"/>
            <a:ext cx="22631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baseline SaaS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testada e validada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B7F"/>
                </a:solidFill>
                <a:latin typeface="Lato"/>
              </a:rPr>
              <a:t>Este mesmo documento foi narrado pelo Speech-AI — o primeiro produto da plataforma — como prova viva.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IA Fragmentada Não Vira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O gargalo não é mais fazer a IA funcionar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528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64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1">
                <a:solidFill>
                  <a:srgbClr val="FFFFFF"/>
                </a:solidFill>
                <a:latin typeface="Lato"/>
              </a:rPr>
              <a:t>“A maioria dos projetos de IA corporativa morre exatamente nessa transição: entre o notebook que funciona e o SaaS que fatura.”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1404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"Conseguimos fazer a IA funcionar?" </a:t>
            </a:r>
            <a:r>
              <a:rPr sz="1500">
                <a:solidFill>
                  <a:srgbClr val="172A44"/>
                </a:solidFill>
                <a:latin typeface="Lato"/>
              </a:rPr>
              <a:t>já não é o problema difícil.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O problema real: </a:t>
            </a:r>
            <a:r>
              <a:rPr sz="1500">
                <a:solidFill>
                  <a:srgbClr val="172A44"/>
                </a:solidFill>
                <a:latin typeface="Lato"/>
              </a:rPr>
              <a:t>"conseguimos transformar isso em produto vendável, cobrável e escalável?"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Cada novo produto de IA </a:t>
            </a:r>
            <a:r>
              <a:rPr sz="1500">
                <a:solidFill>
                  <a:srgbClr val="172A44"/>
                </a:solidFill>
                <a:latin typeface="Lato"/>
              </a:rPr>
              <a:t>tende a reconstruir do zero autenticação, cobrança, filas, workers e histórico — trabalho caro que não tem nada a ver com o diferencial do produto.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A Plataforma TAPOS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Resolvido uma única vez, reaproveitado em cada produto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5280"/>
            <a:ext cx="64922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Autenticação e identidade — </a:t>
            </a:r>
            <a:r>
              <a:rPr sz="1450">
                <a:solidFill>
                  <a:srgbClr val="172A44"/>
                </a:solidFill>
                <a:latin typeface="Lato"/>
              </a:rPr>
              <a:t>JWT + hash bcrypt, protegendo sessão e senha.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Produtos e assinaturas — </a:t>
            </a:r>
            <a:r>
              <a:rPr sz="1450">
                <a:solidFill>
                  <a:srgbClr val="172A44"/>
                </a:solidFill>
                <a:latin typeface="Lato"/>
              </a:rPr>
              <a:t>módulos vendáveis separadamente, sem reengenharia.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Gateway central — </a:t>
            </a:r>
            <a:r>
              <a:rPr sz="1450">
                <a:solidFill>
                  <a:srgbClr val="172A44"/>
                </a:solidFill>
                <a:latin typeface="Lato"/>
              </a:rPr>
              <a:t>nenhum produto é exposto diretamente ao usuário final.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Execução assíncrona real — </a:t>
            </a:r>
            <a:r>
              <a:rPr sz="1450">
                <a:solidFill>
                  <a:srgbClr val="172A44"/>
                </a:solidFill>
                <a:latin typeface="Lato"/>
              </a:rPr>
              <a:t>fila RabbitMQ + worker dedicado por produto, escalando de 1 usuário de teste a centenas em produção.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Isolamento por produto — </a:t>
            </a:r>
            <a:r>
              <a:rPr sz="1450">
                <a:solidFill>
                  <a:srgbClr val="172A44"/>
                </a:solidFill>
                <a:latin typeface="Lato"/>
              </a:rPr>
              <a:t>cada um em seu próprio ambiente; falha não se propaga.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05280"/>
            <a:ext cx="4206240" cy="4206240"/>
          </a:xfrm>
          <a:prstGeom prst="roundRect">
            <a:avLst>
              <a:gd name="adj" fmla="val 7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78816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1">
                <a:solidFill>
                  <a:srgbClr val="FFFFFF"/>
                </a:solidFill>
                <a:latin typeface="Lato"/>
              </a:rPr>
              <a:t>“Isso já está validado ponta a ponta. Não é uma proposta de arquitetura no papel.”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296920"/>
            <a:ext cx="3657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AF3FC"/>
                </a:solidFill>
                <a:latin typeface="Lato"/>
              </a:rPr>
              <a:t>Hoje, um usuário autenticado consegue assinar um produto, enviar um arquivo, disparar a execução — síncrona ou assíncrona — e consultar o resultado, para os três produtos da plataforma.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PROVA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A Arquitetura, Como Ela É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Diagrama real de produção local — não uma ilustração de slide de venda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955" y="1376680"/>
            <a:ext cx="6653784" cy="44846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cle - Tapos 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107" y="1449832"/>
            <a:ext cx="6507480" cy="4338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B6B7F"/>
                </a:solidFill>
                <a:latin typeface="Lato"/>
              </a:rPr>
              <a:t>Status atual: Speech-AI, Edital-AI e Code-AI — integração concluída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MODELO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Produtos &amp; Assinaturas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Módulos vendáveis, sem reengenharia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51000"/>
            <a:ext cx="6583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Cada vertical </a:t>
            </a:r>
            <a:r>
              <a:rPr sz="1500">
                <a:solidFill>
                  <a:srgbClr val="172A44"/>
                </a:solidFill>
                <a:latin typeface="Lato"/>
              </a:rPr>
              <a:t>é um produto com identidade própria (slug estável).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Cada usuário </a:t>
            </a:r>
            <a:r>
              <a:rPr sz="1500">
                <a:solidFill>
                  <a:srgbClr val="172A44"/>
                </a:solidFill>
                <a:latin typeface="Lato"/>
              </a:rPr>
              <a:t>tem assinaturas ativas ou inativas, por produto.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Vender separadamente </a:t>
            </a:r>
            <a:r>
              <a:rPr sz="1500">
                <a:solidFill>
                  <a:srgbClr val="172A44"/>
                </a:solidFill>
                <a:latin typeface="Lato"/>
              </a:rPr>
              <a:t>já é possível hoje, sem retrabalho de engenharia.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O que falta </a:t>
            </a:r>
            <a:r>
              <a:rPr sz="1500">
                <a:solidFill>
                  <a:srgbClr val="172A44"/>
                </a:solidFill>
                <a:latin typeface="Lato"/>
              </a:rPr>
              <a:t>não é engenharia — é a decisão comercial final sobre o modelo de preço (por análise, por volume, ou assinatura fixa).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651000"/>
            <a:ext cx="4023360" cy="393192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8338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5FA8"/>
                </a:solidFill>
                <a:latin typeface="Lato"/>
              </a:rPr>
              <a:t>User ──&lt; Subscription &gt;──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28240"/>
            <a:ext cx="3566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72A44"/>
                </a:solidFill>
                <a:latin typeface="Lato"/>
              </a:rPr>
              <a:t>A infraestrutura de cobrança modular já existe, antes mesmo da decisão comercial final sobre precificação. Subscription.is_active habilita, sem reengenharia, a venda de módulos separados.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PRODUTO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Speech-AI — Inteligência de Fala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O produto mais maduro da plataforma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5280"/>
            <a:ext cx="6400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Speech Intelligence: </a:t>
            </a:r>
            <a:r>
              <a:rPr sz="1450">
                <a:solidFill>
                  <a:srgbClr val="172A44"/>
                </a:solidFill>
                <a:latin typeface="Lato"/>
              </a:rPr>
              <a:t>detecta idioma, complexidade e ritmo antes de narrar.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Independente de fornecedor: </a:t>
            </a:r>
            <a:r>
              <a:rPr sz="1450">
                <a:solidFill>
                  <a:srgbClr val="172A44"/>
                </a:solidFill>
                <a:latin typeface="Lato"/>
              </a:rPr>
              <a:t>arquitetura plugável de provedores de voz.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Prova viva: </a:t>
            </a:r>
            <a:r>
              <a:rPr sz="1450">
                <a:solidFill>
                  <a:srgbClr val="172A44"/>
                </a:solidFill>
                <a:latin typeface="Lato"/>
              </a:rPr>
              <a:t>esta narração institucional foi gerada pelo próprio Speech-AI, processando este texto.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5120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345236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6960"/>
            <a:ext cx="10789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US$ 4–6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027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mercado global de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texto-em-voz em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428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B7F"/>
                </a:solidFill>
                <a:latin typeface="Lato"/>
              </a:rPr>
              <a:t>Crescimento anual de dois dígitos, puxado por assistentes de voz e e-learning.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5280"/>
            <a:ext cx="4206240" cy="4206240"/>
          </a:xfrm>
          <a:prstGeom prst="roundRect">
            <a:avLst>
              <a:gd name="adj" fmla="val 7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788160"/>
            <a:ext cx="3657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Lato"/>
              </a:rPr>
              <a:t>Casos de uso: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Lat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Lato"/>
              </a:rPr>
              <a:t>• Treinamentos corporativos e e-learning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Lato"/>
              </a:rPr>
              <a:t>• Apresentações institucionais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Lato"/>
              </a:rPr>
              <a:t>• Acessibilidade — leitura de documentos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Lato"/>
              </a:rPr>
              <a:t>• Comunicação multilíngue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Lato"/>
              </a:rPr>
              <a:t>• Conteúdo em escala (validado com +29 mil linhas)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PRODUTO 2 — O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Edital-AI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Editais de licitação pública: um problema muito brasileiro, muito grande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9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72A44"/>
                </a:solidFill>
                <a:latin typeface="Lato"/>
              </a:rPr>
              <a:t>Documentos de 50 a 300 páginas, em linguagem jurídica repetitiva, com prazos que custam caro quando são perdidos. O tamanho do mercado por trás disso: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65400"/>
            <a:ext cx="3474720" cy="169164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0" y="276656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31160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R$ 1 tri+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69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compras públicas no Brasil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em 2025 (todas as esferas)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565400"/>
            <a:ext cx="3474720" cy="169164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276656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931160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R$ 465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169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só no portal federal —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282 mil processos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565400"/>
            <a:ext cx="3474720" cy="169164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76656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2931160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ato"/>
              </a:rPr>
              <a:t>3 mil+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6169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órgãos públicos conduzindo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esses processos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B7F"/>
                </a:solidFill>
                <a:latin typeface="Lato"/>
              </a:rPr>
              <a:t>Cada processo gera, do outro lado, uma empresa que precisa ler e responder a esse edital — o problema que resolvemos.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PRODUTO 2 — PROVA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Edital-AI em Produção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71455" y="3200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E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71455" y="320040"/>
            <a:ext cx="1371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Lato"/>
              </a:rPr>
              <a:t>SAÍDA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3172" y="1413256"/>
            <a:ext cx="5165351" cy="45445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of_edital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036" y="1468120"/>
            <a:ext cx="5055623" cy="4434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0126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B6B7F"/>
                </a:solidFill>
                <a:latin typeface="Lato"/>
              </a:rPr>
              <a:t>Saída real — Edital nº 014/2026, Município de Casa Grande/MG · 62 itens · 30 requisitos · Score de conformidade: 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PRODUTO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Code-AI — A Ponte de Dados para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O gargalo de entrada de qualquer pipeline de IA corporativa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528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O problema: </a:t>
            </a:r>
            <a:r>
              <a:rPr sz="1450">
                <a:solidFill>
                  <a:srgbClr val="172A44"/>
                </a:solidFill>
                <a:latin typeface="Lato"/>
              </a:rPr>
              <a:t>dados corporativos vivem em PDF, Word, Excel, PowerPoint e imagens escaneadas — formatos que modelos de linguagem não consomem de forma eficiente.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A solução: </a:t>
            </a:r>
            <a:r>
              <a:rPr sz="1450">
                <a:solidFill>
                  <a:srgbClr val="172A44"/>
                </a:solidFill>
                <a:latin typeface="Lato"/>
              </a:rPr>
              <a:t>conversão universal para Markdown limpo, com OCR quando necessário.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450">
                <a:solidFill>
                  <a:srgbClr val="172A44"/>
                </a:solidFill>
                <a:latin typeface="Lato"/>
              </a:rPr>
              <a:t>O público: </a:t>
            </a:r>
            <a:r>
              <a:rPr sz="1450">
                <a:solidFill>
                  <a:srgbClr val="172A44"/>
                </a:solidFill>
                <a:latin typeface="Lato"/>
              </a:rPr>
              <a:t>equipes técnicas de dados e engenharia — também reaproveitável como infraestrutura por baixo de outras verticais da própria Tecle.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PRODUTO 3 — PROVA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Economia Medida, Não Estimada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71455" y="3200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E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71455" y="320040"/>
            <a:ext cx="1371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Lato"/>
              </a:rPr>
              <a:t>DADO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742440"/>
            <a:ext cx="4480560" cy="210312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5B6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53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72A44"/>
                </a:solidFill>
                <a:latin typeface="Lato"/>
              </a:rPr>
              <a:t>documento.pdf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825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5B6B7F"/>
                </a:solidFill>
                <a:latin typeface="Lato"/>
              </a:rPr>
              <a:t>322,64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140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B7F"/>
                </a:solidFill>
                <a:latin typeface="Lato"/>
              </a:rPr>
              <a:t>82 páginas · PDF bruto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32120" y="2611120"/>
            <a:ext cx="822960" cy="365760"/>
          </a:xfrm>
          <a:prstGeom prst="rightArrow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1742440"/>
            <a:ext cx="4480560" cy="2103120"/>
          </a:xfrm>
          <a:prstGeom prst="roundRect">
            <a:avLst>
              <a:gd name="adj" fmla="val 8000"/>
            </a:avLst>
          </a:prstGeom>
          <a:solidFill>
            <a:srgbClr val="0E2A4D"/>
          </a:solidFill>
          <a:ln w="1905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253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Lato"/>
              </a:rPr>
              <a:t>documento.md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825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3E8ED8"/>
                </a:solidFill>
                <a:latin typeface="Lato"/>
              </a:rPr>
              <a:t>135,22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140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AF3FC"/>
                </a:solidFill>
                <a:latin typeface="Lato"/>
              </a:rPr>
              <a:t>Markdown limpo, pronto p/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5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2A4D"/>
                </a:solidFill>
                <a:latin typeface="Lato"/>
              </a:rPr>
              <a:t>−58,09% de tamanho — economia MEDIDA na última execução real (conversão desta própria base de conhecimento)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228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B6B7F"/>
                </a:solidFill>
                <a:latin typeface="Lato"/>
              </a:rPr>
              <a:t>Estimativa por tipo de documento, em outros casos: 70–85% de economia de tokens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PORTFÓLIO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Três Produtos, Uma Quarta Vertical Reservada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Educa-AI: educação financeira, ainda sem 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5100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51000"/>
            <a:ext cx="2697480" cy="594360"/>
          </a:xfrm>
          <a:prstGeom prst="rect">
            <a:avLst/>
          </a:prstGeom>
          <a:solidFill>
            <a:srgbClr val="2E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51000"/>
            <a:ext cx="2697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Lato"/>
              </a:rPr>
              <a:t>Speech-AI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8252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72A44"/>
                </a:solidFill>
                <a:latin typeface="Lato"/>
              </a:rPr>
              <a:t>Inteligência de fala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313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1F5FA8"/>
                </a:solidFill>
                <a:latin typeface="Lato"/>
              </a:rPr>
              <a:t>Em produção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65100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1651000"/>
            <a:ext cx="2697480" cy="59436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1651000"/>
            <a:ext cx="2697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Lato"/>
              </a:rPr>
              <a:t>Edital-AI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38252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72A44"/>
                </a:solidFill>
                <a:latin typeface="Lato"/>
              </a:rPr>
              <a:t>Licitações públicas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45313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1F5FA8"/>
                </a:solidFill>
                <a:latin typeface="Lato"/>
              </a:rPr>
              <a:t>11 casos reais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165100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651000"/>
            <a:ext cx="2697480" cy="59436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651000"/>
            <a:ext cx="2697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Lato"/>
              </a:rPr>
              <a:t>Code-AI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38252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72A44"/>
                </a:solidFill>
                <a:latin typeface="Lato"/>
              </a:rPr>
              <a:t>Conversão de documentos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5313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1F5FA8"/>
                </a:solidFill>
                <a:latin typeface="Lato"/>
              </a:rPr>
              <a:t>Conectado ao gateway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9136" y="165100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9136" y="1651000"/>
            <a:ext cx="2697480" cy="594360"/>
          </a:xfrm>
          <a:prstGeom prst="rect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1651000"/>
            <a:ext cx="2697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Lato"/>
              </a:rPr>
              <a:t>Educa-AI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8252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72A44"/>
                </a:solidFill>
                <a:latin typeface="Lato"/>
              </a:rPr>
              <a:t>Educação financeira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453136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1">
                <a:solidFill>
                  <a:srgbClr val="1F5FA8"/>
                </a:solidFill>
                <a:latin typeface="Lato"/>
              </a:rPr>
              <a:t>Reservado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171440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7260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FFFFFF"/>
                </a:solidFill>
                <a:latin typeface="Lato"/>
              </a:rPr>
              <a:t>“Essa reserva de espaço, desde o primeiro dia, é a prova mais direta da tese da Tecle: uma nova vertical se soma como extensão — nunca como um projeto de engenharia começado do zero.”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A 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A Tese de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528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06448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FFFFFF"/>
                </a:solidFill>
                <a:latin typeface="Lato"/>
              </a:rPr>
              <a:t>“TAPOS não é um produto de IA. É o sistema operacional sobre o qual produtos de IA se transformam em negócio.”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83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O que conecta os 3 produtos: </a:t>
            </a:r>
            <a:r>
              <a:rPr sz="1500">
                <a:solidFill>
                  <a:srgbClr val="172A44"/>
                </a:solidFill>
                <a:latin typeface="Lato"/>
              </a:rPr>
              <a:t>não é semelhança de função — é rodar sobre a mesma fundação: autenticação, assinatura, gateway, execução assíncrona.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A economia que isso muda: </a:t>
            </a:r>
            <a:r>
              <a:rPr sz="1500">
                <a:solidFill>
                  <a:srgbClr val="172A44"/>
                </a:solidFill>
                <a:latin typeface="Lato"/>
              </a:rPr>
              <a:t>a próxima vertical não reconstrói infraestrutura — herda tudo no primeiro dia.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00">
                <a:solidFill>
                  <a:srgbClr val="172A44"/>
                </a:solidFill>
                <a:latin typeface="Lato"/>
              </a:rPr>
              <a:t>Segundo princípio: </a:t>
            </a:r>
            <a:r>
              <a:rPr sz="1500">
                <a:solidFill>
                  <a:srgbClr val="172A44"/>
                </a:solidFill>
                <a:latin typeface="Lato"/>
              </a:rPr>
              <a:t>IA local sempre que possível (Ollama), minimizando dependência de provedores cobrados por token — uma escolha de margem, não só técnica.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Tração até Aqui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Nada aqui é uma projeção de PowerPoint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05280"/>
            <a:ext cx="3474720" cy="160020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180644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71040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ato"/>
              </a:rPr>
              <a:t>v1.0.0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6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baseline SaaS testada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e validada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05280"/>
            <a:ext cx="3474720" cy="160020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80644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971040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ato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56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editais reais de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5 municípios/órgãos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5280"/>
            <a:ext cx="3474720" cy="1600200"/>
          </a:xfrm>
          <a:prstGeom prst="roundRect">
            <a:avLst>
              <a:gd name="adj" fmla="val 10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1806448"/>
            <a:ext cx="640080" cy="3175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971040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ato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56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score de conformidade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AF3FC"/>
                </a:solidFill>
                <a:latin typeface="Lato"/>
              </a:rPr>
              <a:t>no último caso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3408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350">
                <a:solidFill>
                  <a:srgbClr val="172A44"/>
                </a:solidFill>
                <a:latin typeface="Lato"/>
              </a:rPr>
              <a:t>Evolução incremental validada: </a:t>
            </a:r>
            <a:r>
              <a:rPr sz="1350">
                <a:solidFill>
                  <a:srgbClr val="172A44"/>
                </a:solidFill>
                <a:latin typeface="Lato"/>
              </a:rPr>
              <a:t>auth → produtos/assinaturas → gateway → Speech-AI síncrono → execução assíncrona (fila + workers), replicada nos 3 produtos.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350">
                <a:solidFill>
                  <a:srgbClr val="172A44"/>
                </a:solidFill>
                <a:latin typeface="Lato"/>
              </a:rPr>
              <a:t>Edital-AI </a:t>
            </a:r>
            <a:r>
              <a:rPr sz="1350">
                <a:solidFill>
                  <a:srgbClr val="172A44"/>
                </a:solidFill>
                <a:latin typeface="Lato"/>
              </a:rPr>
              <a:t>já processou editais reais de órgãos públicos brasileiros, com resultados auditáveis.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350">
                <a:solidFill>
                  <a:srgbClr val="172A44"/>
                </a:solidFill>
                <a:latin typeface="Lato"/>
              </a:rPr>
              <a:t>A prova de conceito não é uma promessa: </a:t>
            </a:r>
            <a:r>
              <a:rPr sz="1350">
                <a:solidFill>
                  <a:srgbClr val="172A44"/>
                </a:solidFill>
                <a:latin typeface="Lato"/>
              </a:rPr>
              <a:t>o áudio deste projeto foi gerado pelo próprio Speech-AI, processando este texto.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RISCOS COMO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O Que Falta — E Por Que é o 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Lacunas conhecidas, mapeadas, tecnicamente tratáveis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5280"/>
            <a:ext cx="10881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1F5FA8"/>
                </a:solidFill>
                <a:latin typeface="Lato"/>
              </a:rPr>
              <a:t>■  </a:t>
            </a:r>
            <a:r>
              <a:rPr sz="1450">
                <a:solidFill>
                  <a:srgbClr val="172A44"/>
                </a:solidFill>
                <a:latin typeface="Lato"/>
              </a:rPr>
              <a:t>Multi-tenancy completo por cliente (hoje, isolamento é por usuário)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1F5FA8"/>
                </a:solidFill>
                <a:latin typeface="Lato"/>
              </a:rPr>
              <a:t>■  </a:t>
            </a:r>
            <a:r>
              <a:rPr sz="1450">
                <a:solidFill>
                  <a:srgbClr val="172A44"/>
                </a:solidFill>
                <a:latin typeface="Lato"/>
              </a:rPr>
              <a:t>Paralelização do processamento assíncrono sob carga real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1F5FA8"/>
                </a:solidFill>
                <a:latin typeface="Lato"/>
              </a:rPr>
              <a:t>■  </a:t>
            </a:r>
            <a:r>
              <a:rPr sz="1450">
                <a:solidFill>
                  <a:srgbClr val="172A44"/>
                </a:solidFill>
                <a:latin typeface="Lato"/>
              </a:rPr>
              <a:t>Hardening de segurança no recebimento de arquivos enviados por usuários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1F5FA8"/>
                </a:solidFill>
                <a:latin typeface="Lato"/>
              </a:rPr>
              <a:t>■  </a:t>
            </a:r>
            <a:r>
              <a:rPr sz="1450">
                <a:solidFill>
                  <a:srgbClr val="172A44"/>
                </a:solidFill>
                <a:latin typeface="Lato"/>
              </a:rPr>
              <a:t>Pipeline de implantação contínua em produção (hoje, ambiente local)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1F5FA8"/>
                </a:solidFill>
                <a:latin typeface="Lato"/>
              </a:rPr>
              <a:t>■  </a:t>
            </a:r>
            <a:r>
              <a:rPr sz="1450">
                <a:solidFill>
                  <a:srgbClr val="172A44"/>
                </a:solidFill>
                <a:latin typeface="Lato"/>
              </a:rPr>
              <a:t>Modelo de cobrança: infraestrutura de assinatura pronta, falta a decisão comercial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94200"/>
            <a:ext cx="10881360" cy="1417320"/>
          </a:xfrm>
          <a:prstGeom prst="roundRect">
            <a:avLst>
              <a:gd name="adj" fmla="val 8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95368"/>
            <a:ext cx="10241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1">
                <a:solidFill>
                  <a:srgbClr val="FFFFFF"/>
                </a:solidFill>
                <a:latin typeface="Lato"/>
              </a:rPr>
              <a:t>“Nenhum desses itens exige reescrever a plataforma. É exatamente esse tipo de lacuna — conhecida e tecnicamente tratável — que capital semente existe para financiar.”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DIFERENCIAIS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Por Que a Tecle, Não uma Coleção de Projetos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5280"/>
            <a:ext cx="5349240" cy="214884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05280"/>
            <a:ext cx="82296" cy="21488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81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2A4D"/>
                </a:solidFill>
                <a:latin typeface="Lato"/>
              </a:rPr>
              <a:t>Plataforma, não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9108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72A44"/>
                </a:solidFill>
                <a:latin typeface="Lato"/>
              </a:rPr>
              <a:t>Cada nova vertical herda autenticação, cobrança e execução no primeiro dia.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5280"/>
            <a:ext cx="5349240" cy="214884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05280"/>
            <a:ext cx="82296" cy="21488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881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2A4D"/>
                </a:solidFill>
                <a:latin typeface="Lato"/>
              </a:rPr>
              <a:t>IA local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9108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72A44"/>
                </a:solidFill>
                <a:latin typeface="Lato"/>
              </a:rPr>
              <a:t>Protege a margem bruta da variação de custo de provedores cobrados por token.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7000"/>
            <a:ext cx="5349240" cy="214884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37000"/>
            <a:ext cx="82296" cy="21488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19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2A4D"/>
                </a:solidFill>
                <a:latin typeface="Lato"/>
              </a:rPr>
              <a:t>Confiabilidade &gt; sofisticação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228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72A44"/>
                </a:solidFill>
                <a:latin typeface="Lato"/>
              </a:rPr>
              <a:t>Onde a IA pode falhar, o pipeline não pode travar — mecanismos determinísticos garantem isso.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37000"/>
            <a:ext cx="5349240" cy="2148840"/>
          </a:xfrm>
          <a:prstGeom prst="roundRect">
            <a:avLst>
              <a:gd name="adj" fmla="val 7000"/>
            </a:avLst>
          </a:prstGeom>
          <a:solidFill>
            <a:srgbClr val="EAF3FC"/>
          </a:solidFill>
          <a:ln w="12700">
            <a:solidFill>
              <a:srgbClr val="3E8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937000"/>
            <a:ext cx="82296" cy="21488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19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2A4D"/>
                </a:solidFill>
                <a:latin typeface="Lato"/>
              </a:rPr>
              <a:t>Honestidade sobre o estágio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228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72A44"/>
                </a:solidFill>
                <a:latin typeface="Lato"/>
              </a:rPr>
              <a:t>Nenhum produto é vendido como mais maduro do que 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COMO CONSTRUÍMOS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Disciplina de Engenharia como Vantagem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Incremental, testado, um módulo por vez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5100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50">
                <a:solidFill>
                  <a:srgbClr val="172A44"/>
                </a:solidFill>
                <a:latin typeface="Lato"/>
              </a:rPr>
              <a:t>Desenvolvimento incremental e disciplinado, </a:t>
            </a:r>
            <a:r>
              <a:rPr sz="1550">
                <a:solidFill>
                  <a:srgbClr val="172A44"/>
                </a:solidFill>
                <a:latin typeface="Lato"/>
              </a:rPr>
              <a:t>um módulo por vez, testado e registrado antes do próximo passo.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50">
                <a:solidFill>
                  <a:srgbClr val="172A44"/>
                </a:solidFill>
                <a:latin typeface="Lato"/>
              </a:rPr>
              <a:t>Claude Code como parceiro de engenharia, </a:t>
            </a:r>
            <a:r>
              <a:rPr sz="1550">
                <a:solidFill>
                  <a:srgbClr val="172A44"/>
                </a:solidFill>
                <a:latin typeface="Lato"/>
              </a:rPr>
              <a:t>orientado por contexto persistente — a constituição do projeto e o histórico de decisões técnicas guiando cada sessão.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50" b="1">
                <a:solidFill>
                  <a:srgbClr val="3E8ED8"/>
                </a:solidFill>
                <a:latin typeface="Lato"/>
              </a:rPr>
              <a:t>■  </a:t>
            </a:r>
            <a:r>
              <a:rPr b="1" sz="1550">
                <a:solidFill>
                  <a:srgbClr val="172A44"/>
                </a:solidFill>
                <a:latin typeface="Lato"/>
              </a:rPr>
              <a:t>O resultado: </a:t>
            </a:r>
            <a:r>
              <a:rPr sz="1550">
                <a:solidFill>
                  <a:srgbClr val="172A44"/>
                </a:solidFill>
                <a:latin typeface="Lato"/>
              </a:rPr>
              <a:t>de autenticação básica a gateway multi-produto com execução assíncrona real, em ciclos curtos e validados, um de cada vez.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ESTÁGIO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Lato"/>
              </a:rPr>
              <a:t>Onde Estamos,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EAF3FC"/>
                </a:solidFill>
                <a:latin typeface="Lato"/>
              </a:rPr>
              <a:t>Baseline v1.0.0 operacional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AF3FC"/>
                </a:solidFill>
                <a:latin typeface="Lato"/>
              </a:rPr>
              <a:t>TECLE  ·  TAPOS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10528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EAF3FC"/>
                </a:solidFill>
                <a:latin typeface="Lato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5100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2EA05C"/>
                </a:solidFill>
                <a:latin typeface="Lato"/>
              </a:rPr>
              <a:t>■  </a:t>
            </a:r>
            <a:r>
              <a:rPr sz="1500">
                <a:solidFill>
                  <a:srgbClr val="172A44"/>
                </a:solidFill>
                <a:latin typeface="Lato"/>
              </a:rPr>
              <a:t>Infraestrutura completa rodando: Docker, PostgreSQL, Redis, RabbitMQ, MinIO, Qdrant, Ollama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2EA05C"/>
                </a:solidFill>
                <a:latin typeface="Lato"/>
              </a:rPr>
              <a:t>■  </a:t>
            </a:r>
            <a:r>
              <a:rPr sz="1500">
                <a:solidFill>
                  <a:srgbClr val="172A44"/>
                </a:solidFill>
                <a:latin typeface="Lato"/>
              </a:rPr>
              <a:t>Autenticação, produtos, assinaturas, gateway e execução assíncrona — implementados e testados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2EA05C"/>
                </a:solidFill>
                <a:latin typeface="Lato"/>
              </a:rPr>
              <a:t>■  </a:t>
            </a:r>
            <a:r>
              <a:rPr sz="1500">
                <a:solidFill>
                  <a:srgbClr val="172A44"/>
                </a:solidFill>
                <a:latin typeface="Lato"/>
              </a:rPr>
              <a:t>Speech-AI integrado ponta a ponta; Edital-AI e Code-AI conectados ao mesmo gateway central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2EA05C"/>
                </a:solidFill>
                <a:latin typeface="Lato"/>
              </a:rPr>
              <a:t>■  </a:t>
            </a:r>
            <a:r>
              <a:rPr sz="1500">
                <a:solidFill>
                  <a:srgbClr val="172A44"/>
                </a:solidFill>
                <a:latin typeface="Lato"/>
              </a:rPr>
              <a:t>Ambiente local (VM Ubuntu); caminho técnico mapeado para produção (VPS)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B7F"/>
                </a:solidFill>
                <a:latin typeface="Lato"/>
              </a:rPr>
              <a:t>Este não é um roteiro de intenções — é o estado real e verificável do sistema, hoje.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E8ED8"/>
                </a:solidFill>
                <a:latin typeface="Lato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Lato"/>
              </a:rPr>
              <a:t>O Que Estamos Pedindo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2286000"/>
          </a:xfrm>
          <a:prstGeom prst="roundRect">
            <a:avLst>
              <a:gd name="adj" fmla="val 8000"/>
            </a:avLst>
          </a:prstGeom>
          <a:solidFill>
            <a:srgbClr val="0E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67128"/>
            <a:ext cx="1024128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FFFFFF"/>
                </a:solidFill>
                <a:latin typeface="Lato"/>
              </a:rPr>
              <a:t>“A Tecle não está pedindo a um investidor para apostar em uma ideia. Está mostrando uma plataforma que já processa editais públicos reais, já converte documentos corporativos reais, e que gerou o próprio áudio deste vídeo através do seu primeiro produto em produção.”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AF3FC"/>
                </a:solidFill>
                <a:latin typeface="Lato"/>
              </a:rPr>
              <a:t>O capital que buscamos agora não é para provar que a tecnologia funciona — é para transformar uma plataforma tecnicamente sólida em uma empresa que atende centenas de clientes simultaneamente.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E8ED8"/>
                </a:solidFill>
                <a:latin typeface="Lato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Lato"/>
              </a:rPr>
              <a:t>Essa é a TAPOS. Essa é a Tecle.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463040" cy="38100"/>
          </a:xfrm>
          <a:prstGeom prst="rect">
            <a:avLst/>
          </a:prstGeom>
          <a:solidFill>
            <a:srgbClr val="3E8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8ED8"/>
                </a:solidFill>
                <a:latin typeface="Lato"/>
              </a:rPr>
              <a:t>PRÓXIMOS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sz="1500">
                <a:solidFill>
                  <a:srgbClr val="FFFFFF"/>
                </a:solidFill>
                <a:latin typeface="Lato"/>
              </a:rPr>
              <a:t>Conversa aprofundada sobre valor da rodada e uso do capital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sz="1500">
                <a:solidFill>
                  <a:srgbClr val="FFFFFF"/>
                </a:solidFill>
                <a:latin typeface="Lato"/>
              </a:rPr>
              <a:t>Demonstração ao vivo dos três produtos em operação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3E8ED8"/>
                </a:solidFill>
                <a:latin typeface="Lato"/>
              </a:rPr>
              <a:t>■  </a:t>
            </a:r>
            <a:r>
              <a:rPr sz="1500">
                <a:solidFill>
                  <a:srgbClr val="FFFFFF"/>
                </a:solidFill>
                <a:latin typeface="Lato"/>
              </a:rPr>
              <a:t>Acesso ao código e aos resultados auditáveis dos editais processados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8ED8"/>
                </a:solidFill>
                <a:latin typeface="Lato"/>
              </a:rPr>
              <a:t>CONTATO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Lato"/>
              </a:rPr>
              <a:t>datasciencebelohorizonte@gmail.com   ·   git@github.com:laboratorio-de-ia/tapos.git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EAF3FC"/>
                </a:solidFill>
                <a:latin typeface="Lato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